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58" r:id="rId5"/>
    <p:sldId id="260" r:id="rId6"/>
    <p:sldId id="276" r:id="rId7"/>
    <p:sldId id="278" r:id="rId8"/>
    <p:sldId id="261" r:id="rId9"/>
    <p:sldId id="262" r:id="rId10"/>
    <p:sldId id="275" r:id="rId11"/>
    <p:sldId id="263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65" r:id="rId20"/>
    <p:sldId id="274" r:id="rId21"/>
    <p:sldId id="269" r:id="rId2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5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02B8B-B66E-48FA-A600-F5F5DC4C03A5}" type="datetimeFigureOut">
              <a:rPr lang="en-US" smtClean="0"/>
              <a:pPr/>
              <a:t>3/12/2026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982868-F225-4E69-B3B6-4D07F534C25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903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982868-F225-4E69-B3B6-4D07F534C253}" type="slidenum">
              <a:rPr lang="en-IN" smtClean="0"/>
              <a:pPr/>
              <a:t>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D98F3-A633-436F-ADC8-98F755BA8751}" type="datetimeFigureOut">
              <a:rPr lang="en-US" smtClean="0"/>
              <a:pPr/>
              <a:t>3/12/2026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AC0C3-A578-4C70-B1BF-37D808B71C1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D98F3-A633-436F-ADC8-98F755BA8751}" type="datetimeFigureOut">
              <a:rPr lang="en-US" smtClean="0"/>
              <a:pPr/>
              <a:t>3/12/2026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AC0C3-A578-4C70-B1BF-37D808B71C1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D98F3-A633-436F-ADC8-98F755BA8751}" type="datetimeFigureOut">
              <a:rPr lang="en-US" smtClean="0"/>
              <a:pPr/>
              <a:t>3/12/2026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AC0C3-A578-4C70-B1BF-37D808B71C1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D98F3-A633-436F-ADC8-98F755BA8751}" type="datetimeFigureOut">
              <a:rPr lang="en-US" smtClean="0"/>
              <a:pPr/>
              <a:t>3/12/2026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AC0C3-A578-4C70-B1BF-37D808B71C1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D98F3-A633-436F-ADC8-98F755BA8751}" type="datetimeFigureOut">
              <a:rPr lang="en-US" smtClean="0"/>
              <a:pPr/>
              <a:t>3/12/2026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AC0C3-A578-4C70-B1BF-37D808B71C1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D98F3-A633-436F-ADC8-98F755BA8751}" type="datetimeFigureOut">
              <a:rPr lang="en-US" smtClean="0"/>
              <a:pPr/>
              <a:t>3/12/2026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AC0C3-A578-4C70-B1BF-37D808B71C1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D98F3-A633-436F-ADC8-98F755BA8751}" type="datetimeFigureOut">
              <a:rPr lang="en-US" smtClean="0"/>
              <a:pPr/>
              <a:t>3/12/2026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AC0C3-A578-4C70-B1BF-37D808B71C1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D98F3-A633-436F-ADC8-98F755BA8751}" type="datetimeFigureOut">
              <a:rPr lang="en-US" smtClean="0"/>
              <a:pPr/>
              <a:t>3/12/2026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AC0C3-A578-4C70-B1BF-37D808B71C1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D98F3-A633-436F-ADC8-98F755BA8751}" type="datetimeFigureOut">
              <a:rPr lang="en-US" smtClean="0"/>
              <a:pPr/>
              <a:t>3/12/2026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AC0C3-A578-4C70-B1BF-37D808B71C1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D98F3-A633-436F-ADC8-98F755BA8751}" type="datetimeFigureOut">
              <a:rPr lang="en-US" smtClean="0"/>
              <a:pPr/>
              <a:t>3/12/2026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AC0C3-A578-4C70-B1BF-37D808B71C1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D98F3-A633-436F-ADC8-98F755BA8751}" type="datetimeFigureOut">
              <a:rPr lang="en-US" smtClean="0"/>
              <a:pPr/>
              <a:t>3/12/2026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AC0C3-A578-4C70-B1BF-37D808B71C1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D98F3-A633-436F-ADC8-98F755BA8751}" type="datetimeFigureOut">
              <a:rPr lang="en-US" smtClean="0"/>
              <a:pPr/>
              <a:t>3/12/2026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8AC0C3-A578-4C70-B1BF-37D808B71C1C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89/frai.2025.1554325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i.org/10.1016/j.indmarman.2015.07.002" TargetMode="External"/><Relationship Id="rId4" Type="http://schemas.openxmlformats.org/officeDocument/2006/relationships/hyperlink" Target="https://doi.org/10.3390/joitmc8010023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jbusres.2022.113639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i.org/10.1016/j.indmarman.2022.04.014" TargetMode="External"/><Relationship Id="rId4" Type="http://schemas.openxmlformats.org/officeDocument/2006/relationships/hyperlink" Target="https://hdl.handle.net/10125/111514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indmarman.2021.08.006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i.org/10.1016/j.indmarman.2023.06.011" TargetMode="External"/><Relationship Id="rId4" Type="http://schemas.openxmlformats.org/officeDocument/2006/relationships/hyperlink" Target="https://doi.org/10.1016/j.jbusres.2025.115681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ejph.com/index.php/seejph/article/download/5626/3720/8595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928662" y="1500180"/>
            <a:ext cx="981076" cy="9366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71604" y="214296"/>
            <a:ext cx="60007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Nagar </a:t>
            </a:r>
            <a:r>
              <a:rPr kumimoji="0" lang="en-US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Yuwak</a:t>
            </a:r>
            <a:r>
              <a:rPr kumimoji="0" 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kumimoji="0" lang="en-US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Shikshan</a:t>
            </a:r>
            <a:r>
              <a:rPr kumimoji="0" 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kumimoji="0" lang="en-US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Sanstha’s</a:t>
            </a:r>
            <a:endParaRPr kumimoji="0" lang="en-US" sz="105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b="1" i="0" u="none" strike="noStrike" cap="none" normalizeH="0" baseline="0" dirty="0" err="1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Yeshwantrao</a:t>
            </a:r>
            <a:r>
              <a:rPr kumimoji="0" lang="en-US" b="1" i="0" u="none" strike="noStrike" cap="none" normalizeH="0" baseline="0" dirty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Chavan</a:t>
            </a:r>
            <a:r>
              <a:rPr kumimoji="0" lang="en-US" b="1" i="0" u="none" strike="noStrike" cap="none" normalizeH="0" baseline="0" dirty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 College of Engineering</a:t>
            </a:r>
            <a:endParaRPr kumimoji="0" lang="en-US" sz="1000" b="1" i="0" u="none" strike="noStrike" cap="none" normalizeH="0" baseline="0" dirty="0">
              <a:ln>
                <a:noFill/>
              </a:ln>
              <a:effectLst/>
              <a:cs typeface="Arial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100" b="0" i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ea typeface="Calibri" pitchFamily="34" charset="0"/>
                <a:cs typeface="Times New Roman" pitchFamily="18" charset="0"/>
              </a:rPr>
              <a:t>(An Autonomous Institution affiliated to </a:t>
            </a:r>
            <a:r>
              <a:rPr kumimoji="0" lang="en-US" sz="1100" b="0" i="1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ea typeface="Calibri" pitchFamily="34" charset="0"/>
                <a:cs typeface="Times New Roman" pitchFamily="18" charset="0"/>
              </a:rPr>
              <a:t>Rashtrasant</a:t>
            </a:r>
            <a:r>
              <a:rPr kumimoji="0" lang="en-US" sz="1100" b="0" i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1100" b="0" i="1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ea typeface="Calibri" pitchFamily="34" charset="0"/>
                <a:cs typeface="Times New Roman" pitchFamily="18" charset="0"/>
              </a:rPr>
              <a:t>Tukadoji</a:t>
            </a:r>
            <a:r>
              <a:rPr kumimoji="0" lang="en-US" sz="1100" b="0" i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1100" b="0" i="1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ea typeface="Calibri" pitchFamily="34" charset="0"/>
                <a:cs typeface="Times New Roman" pitchFamily="18" charset="0"/>
              </a:rPr>
              <a:t>Maharaj</a:t>
            </a:r>
            <a:r>
              <a:rPr kumimoji="0" lang="en-US" sz="1100" b="0" i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ea typeface="Calibri" pitchFamily="34" charset="0"/>
                <a:cs typeface="Times New Roman" pitchFamily="18" charset="0"/>
              </a:rPr>
              <a:t> Nagpur University)</a:t>
            </a:r>
            <a:endParaRPr kumimoji="0" lang="en-US" sz="1000" b="0" i="1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Hingna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 Road,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Wanadongri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, Nagpur- 441110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98710" y="1827431"/>
            <a:ext cx="5948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A Study on the Impact of Digital Customer Behavior on B2B Sales Lead Conversion</a:t>
            </a:r>
            <a:endParaRPr lang="en-IN" sz="2000" b="1" dirty="0">
              <a:solidFill>
                <a:srgbClr val="00206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4804946"/>
            <a:ext cx="9144000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Department of Management Studies and Entrepreneurship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43306" y="2857502"/>
            <a:ext cx="1714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Presented by –</a:t>
            </a:r>
          </a:p>
          <a:p>
            <a:pPr algn="ctr"/>
            <a:r>
              <a:rPr lang="en-US" sz="1400" b="1" dirty="0"/>
              <a:t>Mr. Anoop Meshram</a:t>
            </a:r>
            <a:endParaRPr lang="en-IN" sz="1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71472" y="3429006"/>
            <a:ext cx="1714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Project Guide –</a:t>
            </a:r>
          </a:p>
          <a:p>
            <a:r>
              <a:rPr lang="en-US" sz="1400" b="1" dirty="0"/>
              <a:t>Dr. Swati </a:t>
            </a:r>
            <a:r>
              <a:rPr lang="en-US" sz="1400" b="1" dirty="0" err="1"/>
              <a:t>Rahate</a:t>
            </a:r>
            <a:endParaRPr lang="en-IN" sz="1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643702" y="3429006"/>
            <a:ext cx="1714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Company Guide –</a:t>
            </a:r>
            <a:endParaRPr lang="en-IN" sz="1400" i="1" dirty="0"/>
          </a:p>
          <a:p>
            <a:r>
              <a:rPr lang="en-IN" sz="1400" b="1" dirty="0"/>
              <a:t>Mr. Somnath Jagtap</a:t>
            </a:r>
            <a:endParaRPr lang="en-US" sz="1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3643306" y="4429138"/>
            <a:ext cx="1714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2025-26</a:t>
            </a:r>
            <a:endParaRPr lang="en-IN" sz="1400" b="1" dirty="0"/>
          </a:p>
        </p:txBody>
      </p:sp>
      <p:pic>
        <p:nvPicPr>
          <p:cNvPr id="16" name="Picture 15" descr="G:\YCCE\Project\YCCE\1669195396907.jp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8148" y="214296"/>
            <a:ext cx="92392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C:\Users\HP\Pictures\ycce_logo-removebg-preview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5720" y="142858"/>
            <a:ext cx="1119182" cy="11191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804946"/>
            <a:ext cx="9144000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Department of Management Studies and Entrepreneurship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8596" y="357172"/>
            <a:ext cx="4500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Table of Contents</a:t>
            </a:r>
            <a:endParaRPr lang="en-IN" sz="2000" b="1" dirty="0">
              <a:solidFill>
                <a:srgbClr val="002060"/>
              </a:solidFill>
            </a:endParaRPr>
          </a:p>
        </p:txBody>
      </p:sp>
      <p:pic>
        <p:nvPicPr>
          <p:cNvPr id="5" name="Picture 2" descr="C:\Users\HP\Pictures\ycce_logo-removebg-previe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72462" y="142858"/>
            <a:ext cx="857256" cy="857256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45520A-35E0-B45C-EE90-5BCF3927ED0E}"/>
              </a:ext>
            </a:extLst>
          </p:cNvPr>
          <p:cNvSpPr txBox="1"/>
          <p:nvPr/>
        </p:nvSpPr>
        <p:spPr>
          <a:xfrm>
            <a:off x="539552" y="1000114"/>
            <a:ext cx="753291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Internship Details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About the Company</a:t>
            </a: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Introduction to the Topic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Literature Review</a:t>
            </a: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Motivation / Problem Statement</a:t>
            </a: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Objectives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Hypothesis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Research Methodology</a:t>
            </a: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Work Done</a:t>
            </a: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Data Analysis</a:t>
            </a: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Results</a:t>
            </a: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Conclusion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Recommendations</a:t>
            </a: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References</a:t>
            </a:r>
            <a:endParaRPr lang="en-IN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804946"/>
            <a:ext cx="9144000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Department of Management Studies and Entrepreneurship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8596" y="357172"/>
            <a:ext cx="4500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Internship Details</a:t>
            </a:r>
            <a:endParaRPr lang="en-IN" sz="2000" b="1" dirty="0">
              <a:solidFill>
                <a:srgbClr val="002060"/>
              </a:solidFill>
            </a:endParaRPr>
          </a:p>
        </p:txBody>
      </p:sp>
      <p:pic>
        <p:nvPicPr>
          <p:cNvPr id="5" name="Picture 2" descr="C:\Users\HP\Pictures\ycce_logo-removebg-previe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72462" y="142858"/>
            <a:ext cx="857256" cy="857256"/>
          </a:xfrm>
          <a:prstGeom prst="rect">
            <a:avLst/>
          </a:prstGeom>
          <a:noFill/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20E0CE9-34BB-5220-5133-95A628B3CF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639663"/>
              </p:ext>
            </p:extLst>
          </p:nvPr>
        </p:nvGraphicFramePr>
        <p:xfrm>
          <a:off x="258062" y="1143297"/>
          <a:ext cx="8627876" cy="32756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11452">
                  <a:extLst>
                    <a:ext uri="{9D8B030D-6E8A-4147-A177-3AD203B41FA5}">
                      <a16:colId xmlns:a16="http://schemas.microsoft.com/office/drawing/2014/main" val="819454615"/>
                    </a:ext>
                  </a:extLst>
                </a:gridCol>
                <a:gridCol w="3816424">
                  <a:extLst>
                    <a:ext uri="{9D8B030D-6E8A-4147-A177-3AD203B41FA5}">
                      <a16:colId xmlns:a16="http://schemas.microsoft.com/office/drawing/2014/main" val="3376938075"/>
                    </a:ext>
                  </a:extLst>
                </a:gridCol>
              </a:tblGrid>
              <a:tr h="327563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700" b="1" dirty="0"/>
                        <a:t>Organization:</a:t>
                      </a:r>
                      <a:r>
                        <a:rPr lang="en-IN" sz="1700" dirty="0"/>
                        <a:t> Shree Laxmi Cement Products</a:t>
                      </a:r>
                      <a:br>
                        <a:rPr lang="en-IN" sz="1700" dirty="0"/>
                      </a:br>
                      <a:r>
                        <a:rPr lang="en-IN" sz="1700" b="1" dirty="0"/>
                        <a:t>Designation:</a:t>
                      </a:r>
                      <a:r>
                        <a:rPr lang="en-IN" sz="1700" dirty="0"/>
                        <a:t> Business Development Intern</a:t>
                      </a:r>
                      <a:br>
                        <a:rPr lang="en-IN" sz="1700" dirty="0"/>
                      </a:br>
                      <a:r>
                        <a:rPr lang="en-IN" sz="1700" b="1" dirty="0"/>
                        <a:t>Internship Type:</a:t>
                      </a:r>
                      <a:r>
                        <a:rPr lang="en-IN" sz="1700" dirty="0"/>
                        <a:t> Full-time</a:t>
                      </a:r>
                      <a:br>
                        <a:rPr lang="en-IN" sz="1700" dirty="0"/>
                      </a:br>
                      <a:r>
                        <a:rPr lang="en-IN" sz="1700" b="1" dirty="0"/>
                        <a:t>Duration:</a:t>
                      </a:r>
                      <a:r>
                        <a:rPr lang="en-IN" sz="1700" dirty="0"/>
                        <a:t> 4 Months (Feb 2026 – June 2026)</a:t>
                      </a:r>
                      <a:br>
                        <a:rPr lang="en-IN" sz="1700" dirty="0"/>
                      </a:br>
                      <a:r>
                        <a:rPr lang="en-IN" sz="1700" b="1" dirty="0"/>
                        <a:t>Working Hours:</a:t>
                      </a:r>
                      <a:r>
                        <a:rPr lang="en-IN" sz="1700" dirty="0"/>
                        <a:t> 9:00 AM – 6:00 PM</a:t>
                      </a:r>
                      <a:br>
                        <a:rPr lang="en-IN" sz="1700" dirty="0"/>
                      </a:br>
                      <a:r>
                        <a:rPr lang="en-IN" sz="1700" b="1" dirty="0"/>
                        <a:t>Stipend:</a:t>
                      </a:r>
                      <a:r>
                        <a:rPr lang="en-IN" sz="1700" dirty="0"/>
                        <a:t> ₹10,000 per month</a:t>
                      </a:r>
                      <a:br>
                        <a:rPr lang="en-IN" sz="1700" dirty="0"/>
                      </a:br>
                      <a:r>
                        <a:rPr lang="en-IN" sz="1700" b="1" dirty="0"/>
                        <a:t>Location:</a:t>
                      </a:r>
                      <a:r>
                        <a:rPr lang="en-IN" sz="1700" dirty="0"/>
                        <a:t> Wanadongri, Hingna Road, Nagpur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700" b="1" dirty="0"/>
                        <a:t>Website: </a:t>
                      </a:r>
                      <a:r>
                        <a:rPr lang="en-IN" sz="1700" dirty="0"/>
                        <a:t>shreelaxmicementproducts.com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700" b="1" dirty="0"/>
                        <a:t>Key Responsibilities:</a:t>
                      </a:r>
                    </a:p>
                    <a:p>
                      <a:pPr marL="0" lvl="0" indent="-25200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IN" sz="1700" dirty="0"/>
                        <a:t>Construction Research &amp; Cost Analysis</a:t>
                      </a:r>
                    </a:p>
                    <a:p>
                      <a:pPr marL="0" lvl="0" indent="-25200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IN" sz="1700" dirty="0"/>
                        <a:t>Technical Documentation</a:t>
                      </a:r>
                    </a:p>
                    <a:p>
                      <a:pPr marL="0" lvl="0" indent="-25200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IN" sz="1700" dirty="0"/>
                        <a:t>Contractor &amp; Market Research</a:t>
                      </a:r>
                    </a:p>
                    <a:p>
                      <a:pPr marL="0" lvl="0" indent="-25200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IN" sz="1700" dirty="0"/>
                        <a:t>Quotation &amp; Vendor Coordination</a:t>
                      </a:r>
                    </a:p>
                    <a:p>
                      <a:pPr marL="0" lvl="0" indent="-25200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IN" sz="1700" dirty="0"/>
                        <a:t>Business Development Support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IN" sz="17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56027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804946"/>
            <a:ext cx="9144000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Department of Management Studies and Entrepreneurship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8596" y="357172"/>
            <a:ext cx="4500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About the Company</a:t>
            </a:r>
            <a:endParaRPr lang="en-IN" sz="2000" b="1" dirty="0">
              <a:solidFill>
                <a:srgbClr val="002060"/>
              </a:solidFill>
            </a:endParaRPr>
          </a:p>
        </p:txBody>
      </p:sp>
      <p:pic>
        <p:nvPicPr>
          <p:cNvPr id="4" name="Picture 2" descr="C:\Users\HP\Pictures\ycce_logo-removebg-previe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72462" y="142858"/>
            <a:ext cx="857256" cy="857256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F494A3-E238-78AC-4E57-F4A79DCF88C9}"/>
              </a:ext>
            </a:extLst>
          </p:cNvPr>
          <p:cNvSpPr txBox="1"/>
          <p:nvPr/>
        </p:nvSpPr>
        <p:spPr>
          <a:xfrm>
            <a:off x="428596" y="907396"/>
            <a:ext cx="7643866" cy="3747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Shree Laxmi Cement Products is a construction materials manufacturing company based in Nagpur.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company specializes in precast cement and concrete products used in civil infrastructure projects.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Major products include RCC pipes, paver blocks, and other precast concrete components.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company supplies materials for construction, drainage, and infrastructure development.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Focus on product quality, durability, and reliable supply to contractors and builders.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Supports infrastructure and building projects across the region.</a:t>
            </a:r>
            <a:endParaRPr lang="en-IN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804946"/>
            <a:ext cx="9144000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Department of Management Studies and Entrepreneurship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8596" y="357172"/>
            <a:ext cx="4500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Introduction to the Topic</a:t>
            </a:r>
            <a:endParaRPr lang="en-IN" sz="2000" b="1" dirty="0">
              <a:solidFill>
                <a:srgbClr val="002060"/>
              </a:solidFill>
            </a:endParaRPr>
          </a:p>
        </p:txBody>
      </p:sp>
      <p:pic>
        <p:nvPicPr>
          <p:cNvPr id="4" name="Picture 2" descr="C:\Users\HP\Pictures\ycce_logo-removebg-previe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72462" y="142858"/>
            <a:ext cx="857256" cy="85725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0DCBD6-E4A6-4BF8-71EC-6E2D32F593F8}"/>
              </a:ext>
            </a:extLst>
          </p:cNvPr>
          <p:cNvSpPr txBox="1"/>
          <p:nvPr/>
        </p:nvSpPr>
        <p:spPr>
          <a:xfrm>
            <a:off x="428596" y="907396"/>
            <a:ext cx="7743804" cy="3747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Digital platforms have transformed how businesses search for suppliers and make purchasing decisions in B2B markets.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In the construction materials industry, buyers such as contractors and builders often research products online before contacting suppliers.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Customer behavior on digital channels such as websites, search engines, and online directories influences how sales leads are generated and converted.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Understanding digital customer behavior helps companies improve their marketing strategies and increase B2B lead conversion.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This study focuses on analyzing how online research, digital communication, and online presence affect the conversion of potential customers into actual business leads.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95C7E-D6F4-BC10-5A6B-7B7E71353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56F8F5-810B-048D-6008-73CB088ECD2E}"/>
              </a:ext>
            </a:extLst>
          </p:cNvPr>
          <p:cNvSpPr txBox="1"/>
          <p:nvPr/>
        </p:nvSpPr>
        <p:spPr>
          <a:xfrm>
            <a:off x="0" y="4804946"/>
            <a:ext cx="9144000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Department of Management Studies and Entrepreneurship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42A13C-792D-674F-3EFD-99C00C80C490}"/>
              </a:ext>
            </a:extLst>
          </p:cNvPr>
          <p:cNvSpPr txBox="1"/>
          <p:nvPr/>
        </p:nvSpPr>
        <p:spPr>
          <a:xfrm>
            <a:off x="428596" y="357172"/>
            <a:ext cx="4500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</a:rPr>
              <a:t>Literature Review</a:t>
            </a:r>
          </a:p>
        </p:txBody>
      </p:sp>
      <p:pic>
        <p:nvPicPr>
          <p:cNvPr id="4" name="Picture 2" descr="C:\Users\HP\Pictures\ycce_logo-removebg-preview.png">
            <a:extLst>
              <a:ext uri="{FF2B5EF4-FFF2-40B4-BE49-F238E27FC236}">
                <a16:creationId xmlns:a16="http://schemas.microsoft.com/office/drawing/2014/main" id="{CC699FE0-D253-18F3-C706-BDBEE682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72462" y="142858"/>
            <a:ext cx="857256" cy="857256"/>
          </a:xfrm>
          <a:prstGeom prst="rect">
            <a:avLst/>
          </a:prstGeom>
          <a:noFill/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5713E96-3F93-A46E-286F-A7FA0A7D39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92946"/>
              </p:ext>
            </p:extLst>
          </p:nvPr>
        </p:nvGraphicFramePr>
        <p:xfrm>
          <a:off x="179512" y="1203598"/>
          <a:ext cx="8750206" cy="3455655"/>
        </p:xfrm>
        <a:graphic>
          <a:graphicData uri="http://schemas.openxmlformats.org/drawingml/2006/table">
            <a:tbl>
              <a:tblPr/>
              <a:tblGrid>
                <a:gridCol w="1872208">
                  <a:extLst>
                    <a:ext uri="{9D8B030D-6E8A-4147-A177-3AD203B41FA5}">
                      <a16:colId xmlns:a16="http://schemas.microsoft.com/office/drawing/2014/main" val="1764549916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1062079635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1640113082"/>
                    </a:ext>
                  </a:extLst>
                </a:gridCol>
                <a:gridCol w="2557518">
                  <a:extLst>
                    <a:ext uri="{9D8B030D-6E8A-4147-A177-3AD203B41FA5}">
                      <a16:colId xmlns:a16="http://schemas.microsoft.com/office/drawing/2014/main" val="1594545133"/>
                    </a:ext>
                  </a:extLst>
                </a:gridCol>
              </a:tblGrid>
              <a:tr h="44317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b="1" dirty="0"/>
                        <a:t>Author &amp; Year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b="1" dirty="0"/>
                        <a:t>Objective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b="1" dirty="0"/>
                        <a:t>Methodology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b="1" dirty="0"/>
                        <a:t>Key Findings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003664"/>
                  </a:ext>
                </a:extLst>
              </a:tr>
              <a:tr h="6039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/>
                        <a:t>González-Flores et al. (2025)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/>
                        <a:t>To develop a lead scoring model for B2B marketing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/>
                        <a:t>Machine learning based analysis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/>
                        <a:t>Lead prioritization improves sales conversion efficiency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724489"/>
                  </a:ext>
                </a:extLst>
              </a:tr>
              <a:tr h="55859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/>
                        <a:t>Hawaldar et al. (2022)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/>
                        <a:t>To study digital marketing impact on B2B sales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/>
                        <a:t>Survey and data analysis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/>
                        <a:t>Digital marketing significantly increases sales growth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398592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/>
                        <a:t>Järvinen &amp; Taiminen (2016)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/>
                        <a:t>To analyze marketing automation in B2B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/>
                        <a:t>Case study research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/>
                        <a:t>Marketing automation improves lead nurturing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970585"/>
                  </a:ext>
                </a:extLst>
              </a:tr>
              <a:tr h="63085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/>
                        <a:t>Lundin &amp; Kindström (2023)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/>
                        <a:t>To study digital customer journey in B2B markets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/>
                        <a:t>Conceptual research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/>
                        <a:t>Digitalization improves customer engagement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033294"/>
                  </a:ext>
                </a:extLst>
              </a:tr>
              <a:tr h="67161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/>
                        <a:t>Hassan et al. (2026)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/>
                        <a:t>To analyze marketing analytics in B2B firms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/>
                        <a:t>Data analysis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/>
                        <a:t>Marketing analytics improves lead generation strategies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986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0557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E46AD-B3BD-1B07-9167-E99BB4A6A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43FC0A-E474-5716-7318-F241C76973E6}"/>
              </a:ext>
            </a:extLst>
          </p:cNvPr>
          <p:cNvSpPr txBox="1"/>
          <p:nvPr/>
        </p:nvSpPr>
        <p:spPr>
          <a:xfrm>
            <a:off x="0" y="4804946"/>
            <a:ext cx="9144000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Department of Management Studies and Entrepreneurship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C103FA-0932-ACEB-E3C6-E60B4B4DB9A9}"/>
              </a:ext>
            </a:extLst>
          </p:cNvPr>
          <p:cNvSpPr txBox="1"/>
          <p:nvPr/>
        </p:nvSpPr>
        <p:spPr>
          <a:xfrm>
            <a:off x="428596" y="357172"/>
            <a:ext cx="4500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</a:rPr>
              <a:t>Literature Review</a:t>
            </a:r>
          </a:p>
        </p:txBody>
      </p:sp>
      <p:pic>
        <p:nvPicPr>
          <p:cNvPr id="4" name="Picture 2" descr="C:\Users\HP\Pictures\ycce_logo-removebg-preview.png">
            <a:extLst>
              <a:ext uri="{FF2B5EF4-FFF2-40B4-BE49-F238E27FC236}">
                <a16:creationId xmlns:a16="http://schemas.microsoft.com/office/drawing/2014/main" id="{15BE186A-8D0A-DD1E-9A8B-1BB9CE42E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72462" y="142858"/>
            <a:ext cx="857256" cy="857256"/>
          </a:xfrm>
          <a:prstGeom prst="rect">
            <a:avLst/>
          </a:prstGeom>
          <a:noFill/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E412FCE-7BD4-4EE2-7A8E-1E10E821B7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639762"/>
              </p:ext>
            </p:extLst>
          </p:nvPr>
        </p:nvGraphicFramePr>
        <p:xfrm>
          <a:off x="179513" y="1203598"/>
          <a:ext cx="8750205" cy="3456384"/>
        </p:xfrm>
        <a:graphic>
          <a:graphicData uri="http://schemas.openxmlformats.org/drawingml/2006/table">
            <a:tbl>
              <a:tblPr/>
              <a:tblGrid>
                <a:gridCol w="1800199">
                  <a:extLst>
                    <a:ext uri="{9D8B030D-6E8A-4147-A177-3AD203B41FA5}">
                      <a16:colId xmlns:a16="http://schemas.microsoft.com/office/drawing/2014/main" val="1764549916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1062079635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1640113082"/>
                    </a:ext>
                  </a:extLst>
                </a:gridCol>
                <a:gridCol w="2917558">
                  <a:extLst>
                    <a:ext uri="{9D8B030D-6E8A-4147-A177-3AD203B41FA5}">
                      <a16:colId xmlns:a16="http://schemas.microsoft.com/office/drawing/2014/main" val="1594545133"/>
                    </a:ext>
                  </a:extLst>
                </a:gridCol>
              </a:tblGrid>
              <a:tr h="48240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b="1" dirty="0"/>
                        <a:t>Author &amp; Year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b="1" dirty="0"/>
                        <a:t>Objective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b="1" dirty="0"/>
                        <a:t>Methodology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b="1" dirty="0"/>
                        <a:t>Key Findings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003664"/>
                  </a:ext>
                </a:extLst>
              </a:tr>
              <a:tr h="6432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Rusthollkarhu et al. (2022)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To study AI based tools in B2B customer management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Literature analysis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AI improves customer journey management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724489"/>
                  </a:ext>
                </a:extLst>
              </a:tr>
              <a:tr h="5628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Saura et al. (2021)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To examine AI based CRM systems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Analytical research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AI driven CRM improves customer relationship management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398592"/>
                  </a:ext>
                </a:extLst>
              </a:tr>
              <a:tr h="5628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Isabella et al. (2025)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To study role of chatbots in lead generation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Empirical research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Chatbots improve lead response time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970585"/>
                  </a:ext>
                </a:extLst>
              </a:tr>
              <a:tr h="6432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Balaji et al. (2023)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To analyze social media marketing in B2B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Experimental study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Social media engagement increases brand awareness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03329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Kanmani et al. (2025)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To study marketing automation and customer buying </a:t>
                      </a:r>
                      <a:r>
                        <a:rPr lang="en-US" sz="1200" dirty="0" err="1"/>
                        <a:t>behaviour</a:t>
                      </a:r>
                      <a:endParaRPr lang="en-US" sz="1200" dirty="0"/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Survey and data analysis</a:t>
                      </a:r>
                      <a:endParaRPr lang="en-IN" sz="1200" dirty="0"/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Automation improves customer engagement and influences purchasing decisions</a:t>
                      </a:r>
                    </a:p>
                  </a:txBody>
                  <a:tcPr marL="27153" marR="27153" marT="13576" marB="13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986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9071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804946"/>
            <a:ext cx="9144000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Department of Management Studies and Entrepreneurship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8596" y="357172"/>
            <a:ext cx="4500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Motivation / Problem Statement</a:t>
            </a:r>
            <a:endParaRPr lang="en-IN" sz="2000" b="1" dirty="0">
              <a:solidFill>
                <a:srgbClr val="002060"/>
              </a:solidFill>
            </a:endParaRPr>
          </a:p>
        </p:txBody>
      </p:sp>
      <p:pic>
        <p:nvPicPr>
          <p:cNvPr id="4" name="Picture 2" descr="C:\Users\HP\Pictures\ycce_logo-removebg-previe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72462" y="142858"/>
            <a:ext cx="857256" cy="857256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73FD61-6A61-7D66-F478-C2469DBFF56A}"/>
              </a:ext>
            </a:extLst>
          </p:cNvPr>
          <p:cNvSpPr txBox="1"/>
          <p:nvPr/>
        </p:nvSpPr>
        <p:spPr>
          <a:xfrm>
            <a:off x="428596" y="1032531"/>
            <a:ext cx="8175852" cy="3739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Many B2B companies generate a large number of leads through digital channels such as websites, search engines, and online directories.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However, a significant number of these leads do not convert into actual sales.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Companies often lack a structured approach to analyze digital customer behavior and intent signals.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Sales teams spend considerable time following up on low-quality or unqualified leads.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Understanding digital engagement and intent-based micro-actions can help identify high-potential customers earlier in the buying process.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Therefore, it is important to study how digital customer behavior influences B2B lead quality and conversion outcomes.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804946"/>
            <a:ext cx="9144000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Department of Management Studies and Entrepreneurship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8596" y="357172"/>
            <a:ext cx="4500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Objectives</a:t>
            </a:r>
            <a:endParaRPr lang="en-IN" sz="2000" b="1" dirty="0">
              <a:solidFill>
                <a:srgbClr val="002060"/>
              </a:solidFill>
            </a:endParaRPr>
          </a:p>
        </p:txBody>
      </p:sp>
      <p:pic>
        <p:nvPicPr>
          <p:cNvPr id="4" name="Picture 2" descr="C:\Users\HP\Pictures\ycce_logo-removebg-previe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72462" y="142858"/>
            <a:ext cx="857256" cy="85725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11B094-4FA2-B50A-0C3F-E95C698B9665}"/>
              </a:ext>
            </a:extLst>
          </p:cNvPr>
          <p:cNvSpPr txBox="1"/>
          <p:nvPr/>
        </p:nvSpPr>
        <p:spPr>
          <a:xfrm>
            <a:off x="428596" y="1000114"/>
            <a:ext cx="7643866" cy="248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+mj-lt"/>
              <a:buAutoNum type="arabicParenR"/>
            </a:pPr>
            <a:r>
              <a:rPr lang="en-US" sz="1600" dirty="0"/>
              <a:t>To examine the impact of digital customer behavior on B2B sales lead conversion.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arenR"/>
            </a:pPr>
            <a:r>
              <a:rPr lang="en-US" sz="1600" dirty="0"/>
              <a:t>To identify key intent-based digital micro-actions that influence lead quality and conversion probability.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arenR"/>
            </a:pPr>
            <a:r>
              <a:rPr lang="en-US" sz="1600" dirty="0"/>
              <a:t>To evaluate the role of digital intent automation in enhancing sales performance and conversion efficiency in B2B firms.</a:t>
            </a:r>
            <a:endParaRPr lang="en-IN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467E2-A144-A8E1-D2AF-C13237956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219AF6-19E5-2975-2012-C11EB53AF94A}"/>
              </a:ext>
            </a:extLst>
          </p:cNvPr>
          <p:cNvSpPr txBox="1"/>
          <p:nvPr/>
        </p:nvSpPr>
        <p:spPr>
          <a:xfrm>
            <a:off x="0" y="4804946"/>
            <a:ext cx="9144000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Department of Management Studies and Entrepreneurship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64E108-A944-A3AF-F60A-D5EAA47A5E89}"/>
              </a:ext>
            </a:extLst>
          </p:cNvPr>
          <p:cNvSpPr txBox="1"/>
          <p:nvPr/>
        </p:nvSpPr>
        <p:spPr>
          <a:xfrm>
            <a:off x="428596" y="357172"/>
            <a:ext cx="4500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Hypothesis</a:t>
            </a:r>
            <a:endParaRPr lang="en-IN" sz="2000" b="1" dirty="0">
              <a:solidFill>
                <a:srgbClr val="002060"/>
              </a:solidFill>
            </a:endParaRPr>
          </a:p>
        </p:txBody>
      </p:sp>
      <p:pic>
        <p:nvPicPr>
          <p:cNvPr id="4" name="Picture 2" descr="C:\Users\HP\Pictures\ycce_logo-removebg-preview.png">
            <a:extLst>
              <a:ext uri="{FF2B5EF4-FFF2-40B4-BE49-F238E27FC236}">
                <a16:creationId xmlns:a16="http://schemas.microsoft.com/office/drawing/2014/main" id="{41E55644-5418-F24F-DECE-044E8B3C4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72462" y="142858"/>
            <a:ext cx="857256" cy="85725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F4134A-8F7A-AC6B-8337-3157FC0D6101}"/>
              </a:ext>
            </a:extLst>
          </p:cNvPr>
          <p:cNvSpPr txBox="1"/>
          <p:nvPr/>
        </p:nvSpPr>
        <p:spPr>
          <a:xfrm>
            <a:off x="750067" y="1953119"/>
            <a:ext cx="7643866" cy="123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dirty="0"/>
              <a:t>Digital customer behavior and intent-based digital micro-actions have a significant positive impact on B2B sales lead quality and conversion.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211331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804946"/>
            <a:ext cx="9144000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Department of Management Studies and Entrepreneurship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8596" y="357172"/>
            <a:ext cx="4500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Research Methodology</a:t>
            </a:r>
            <a:endParaRPr lang="en-IN" sz="2000" b="1" dirty="0">
              <a:solidFill>
                <a:srgbClr val="002060"/>
              </a:solidFill>
            </a:endParaRPr>
          </a:p>
        </p:txBody>
      </p:sp>
      <p:pic>
        <p:nvPicPr>
          <p:cNvPr id="4" name="Picture 2" descr="C:\Users\HP\Pictures\ycce_logo-removebg-previe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72462" y="142858"/>
            <a:ext cx="857256" cy="85725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44B049-AED4-C78B-092F-DF929F698024}"/>
              </a:ext>
            </a:extLst>
          </p:cNvPr>
          <p:cNvSpPr txBox="1"/>
          <p:nvPr/>
        </p:nvSpPr>
        <p:spPr>
          <a:xfrm>
            <a:off x="428596" y="907396"/>
            <a:ext cx="7643866" cy="3747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sz="1600" b="1" dirty="0"/>
              <a:t>Research Type: </a:t>
            </a:r>
            <a:r>
              <a:rPr lang="en-US" sz="1600" dirty="0"/>
              <a:t>Descriptive research to study the impact of digital customer behavior on B2B sales lead conversion.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sz="1600" b="1" dirty="0"/>
              <a:t>Primary Data Collection: </a:t>
            </a:r>
            <a:r>
              <a:rPr lang="en-US" sz="1600" dirty="0"/>
              <a:t>Data collected through interaction with contractors, builders, and potential customers.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sz="1600" b="1" dirty="0"/>
              <a:t>Secondary Data Sources: </a:t>
            </a:r>
            <a:r>
              <a:rPr lang="en-US" sz="1600" dirty="0"/>
              <a:t>Online platforms such as IndiaMART, Justdial, and company websites.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sz="1600" b="1" dirty="0"/>
              <a:t>Lead Generation Tools: </a:t>
            </a:r>
            <a:r>
              <a:rPr lang="en-US" sz="1600" dirty="0"/>
              <a:t>Apollo, Map Scraper, and Leads Finder used to collect business contacts and company information.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sz="1600" b="1" dirty="0"/>
              <a:t>Data Analysis Tools: </a:t>
            </a:r>
            <a:r>
              <a:rPr lang="en-US" sz="1600" dirty="0"/>
              <a:t>Excel sheets and lead databases used to organize and analyze collected data.</a:t>
            </a:r>
            <a:endParaRPr lang="en-IN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804946"/>
            <a:ext cx="9144000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Department of Management Studies and Entrepreneurship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8596" y="357172"/>
            <a:ext cx="4500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Work Done</a:t>
            </a:r>
            <a:endParaRPr lang="en-IN" sz="2000" b="1" dirty="0">
              <a:solidFill>
                <a:srgbClr val="002060"/>
              </a:solidFill>
            </a:endParaRPr>
          </a:p>
        </p:txBody>
      </p:sp>
      <p:pic>
        <p:nvPicPr>
          <p:cNvPr id="4" name="Picture 2" descr="C:\Users\HP\Pictures\ycce_logo-removebg-previe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72462" y="142858"/>
            <a:ext cx="857256" cy="85725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0BBDC3-18FE-0F27-65FE-1AE904209802}"/>
              </a:ext>
            </a:extLst>
          </p:cNvPr>
          <p:cNvSpPr txBox="1"/>
          <p:nvPr/>
        </p:nvSpPr>
        <p:spPr>
          <a:xfrm>
            <a:off x="448070" y="1000114"/>
            <a:ext cx="8247860" cy="3747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Collected construction industry leads using platforms such as IndiaMART, Justdial, and company websites.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Used tools like Apollo, Map Scraper, and Leads Finder to extract business contact details and company information.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Created and maintained lead databases in Excel for contractors, builders, and construction companies.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Prepared and shared Request for Quotation (RFQ) to machinery owners and contractors for rental rates and equipment details.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Conducted market research on construction materials suppliers and potential B2B customers.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Assisted in lead qualification and follow-up to support business development activities.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804946"/>
            <a:ext cx="9144000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Department of Management Studies and Entrepreneurship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8596" y="357172"/>
            <a:ext cx="4500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Data Analysis</a:t>
            </a:r>
            <a:endParaRPr lang="en-IN" sz="2000" b="1" dirty="0">
              <a:solidFill>
                <a:srgbClr val="002060"/>
              </a:solidFill>
            </a:endParaRPr>
          </a:p>
        </p:txBody>
      </p:sp>
      <p:pic>
        <p:nvPicPr>
          <p:cNvPr id="4" name="Picture 2" descr="C:\Users\HP\Pictures\ycce_logo-removebg-previe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72462" y="142858"/>
            <a:ext cx="857256" cy="85725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EEFEC1-DD0F-C5CB-4330-354C5A663F85}"/>
              </a:ext>
            </a:extLst>
          </p:cNvPr>
          <p:cNvSpPr txBox="1"/>
          <p:nvPr/>
        </p:nvSpPr>
        <p:spPr>
          <a:xfrm>
            <a:off x="428596" y="907396"/>
            <a:ext cx="7643866" cy="3747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Collected B2B lead data from IndiaMART, Justdial, and company website inquiries to study customer online engagement.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Identified key intent-based digital micro-actions such as product searches, inquiry submissions, Request for Quotation (RFQ), and contact form interactions.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Classified leads based on intent level, industry category, and business relevance to assess lead quality.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Analyzed the relationship between digital customer behavior and B2B lead quality using organized lead databases.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Evaluated how high-intent digital actions increase the probability of B2B sales lead conversion.</a:t>
            </a:r>
            <a:endParaRPr lang="en-IN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804946"/>
            <a:ext cx="9144000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Department of Management Studies and Entrepreneurship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8596" y="357172"/>
            <a:ext cx="4500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Results</a:t>
            </a:r>
            <a:endParaRPr lang="en-IN" sz="2000" b="1" dirty="0">
              <a:solidFill>
                <a:srgbClr val="002060"/>
              </a:solidFill>
            </a:endParaRPr>
          </a:p>
        </p:txBody>
      </p:sp>
      <p:pic>
        <p:nvPicPr>
          <p:cNvPr id="4" name="Picture 2" descr="C:\Users\HP\Pictures\ycce_logo-removebg-previe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72462" y="142858"/>
            <a:ext cx="857256" cy="85725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B8D5D6-F957-1603-46A2-6347BB1EC330}"/>
              </a:ext>
            </a:extLst>
          </p:cNvPr>
          <p:cNvSpPr txBox="1"/>
          <p:nvPr/>
        </p:nvSpPr>
        <p:spPr>
          <a:xfrm>
            <a:off x="428596" y="907396"/>
            <a:ext cx="7643866" cy="3747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Digital platforms such as IndiaMART, Justdial, and company websites play a significant role in generating B2B sales leads.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Intent-based digital micro-actions like product searches, inquiry submissions, and Request for Quotation (RFQ) indicate higher customer purchase intent.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Leads showing high digital engagement were more likely to convert into potential business opportunities.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Classifying leads based on intent level and inquiry relevance helps improve lead quality and sales efficiency.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findings support the hypothesis that digital customer behavior positively influences B2B lead quality and conversion probability.</a:t>
            </a:r>
            <a:endParaRPr lang="en-IN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804946"/>
            <a:ext cx="9144000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Department of Management Studies and Entrepreneurship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8596" y="357172"/>
            <a:ext cx="4500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Conclusion</a:t>
            </a:r>
            <a:endParaRPr lang="en-IN" sz="2000" b="1" dirty="0">
              <a:solidFill>
                <a:srgbClr val="002060"/>
              </a:solidFill>
            </a:endParaRPr>
          </a:p>
        </p:txBody>
      </p:sp>
      <p:pic>
        <p:nvPicPr>
          <p:cNvPr id="4" name="Picture 2" descr="C:\Users\HP\Pictures\ycce_logo-removebg-previe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72462" y="142858"/>
            <a:ext cx="857256" cy="85725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8B6F45-7625-8F97-99EC-7EB7D1F78626}"/>
              </a:ext>
            </a:extLst>
          </p:cNvPr>
          <p:cNvSpPr txBox="1"/>
          <p:nvPr/>
        </p:nvSpPr>
        <p:spPr>
          <a:xfrm>
            <a:off x="123970" y="1028812"/>
            <a:ext cx="8912525" cy="3747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50" dirty="0"/>
              <a:t>This study concludes that digital customer behavior has a significant influence on B2B sales lead generation and conversion processes.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50" dirty="0"/>
              <a:t>Digital platforms have become an important initial touchpoint for buyers in the construction materials industry, where customers often research products and suppliers online before making business inquiries.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50" dirty="0"/>
              <a:t>The analysis shows that intent-based digital micro-actions, such as online searches, inquiries, and quotation requests, act as early indicators of customer buying intent.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50" dirty="0"/>
              <a:t>By analyzing these digital signals, businesses can identify high-potential leads earlier and improve lead qualification efficiency.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50" dirty="0"/>
              <a:t>Overall, leveraging digital customer behavior insights can help organizations improve B2B sales strategies, enhance lead quality, and increase conversion effectiveness.</a:t>
            </a:r>
            <a:endParaRPr lang="en-IN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804946"/>
            <a:ext cx="9144000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Department of Management Studies and Entrepreneurship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8596" y="357172"/>
            <a:ext cx="4500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Recommendations</a:t>
            </a:r>
            <a:endParaRPr lang="en-IN" sz="2000" b="1" dirty="0">
              <a:solidFill>
                <a:srgbClr val="002060"/>
              </a:solidFill>
            </a:endParaRPr>
          </a:p>
        </p:txBody>
      </p:sp>
      <p:pic>
        <p:nvPicPr>
          <p:cNvPr id="4" name="Picture 2" descr="C:\Users\HP\Pictures\ycce_logo-removebg-previe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72462" y="142858"/>
            <a:ext cx="857256" cy="85725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D158B4-471C-F40A-7BA2-E000BCB35166}"/>
              </a:ext>
            </a:extLst>
          </p:cNvPr>
          <p:cNvSpPr txBox="1"/>
          <p:nvPr/>
        </p:nvSpPr>
        <p:spPr>
          <a:xfrm>
            <a:off x="462628" y="1000114"/>
            <a:ext cx="8247860" cy="3747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company should improve its digital presence through an optimized website and active profiles on B2B platforms to attract more potential buyers.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company should track digital customer behavior such as product searches, inquiries, and RFQs to identify high-intent leads.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company should implement a structured lead management system to organize and classify leads based on interest and relevance.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company can adopt automation tools such as chatbots and automated replies to respond quickly to online inquiries.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company should focus on timely follow-up and relationship building with contractors and builders to improve B2B lead conversion.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1733C-5E87-3E8B-F823-7760173A3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88C189-CD55-9D43-DFB3-C1D48C4262C0}"/>
              </a:ext>
            </a:extLst>
          </p:cNvPr>
          <p:cNvSpPr txBox="1"/>
          <p:nvPr/>
        </p:nvSpPr>
        <p:spPr>
          <a:xfrm>
            <a:off x="0" y="4804946"/>
            <a:ext cx="9144000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Department of Management Studies and Entrepreneurship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BE8C6-930A-A68A-43E6-A425273A4293}"/>
              </a:ext>
            </a:extLst>
          </p:cNvPr>
          <p:cNvSpPr txBox="1"/>
          <p:nvPr/>
        </p:nvSpPr>
        <p:spPr>
          <a:xfrm>
            <a:off x="428596" y="357172"/>
            <a:ext cx="4500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References</a:t>
            </a:r>
            <a:endParaRPr lang="en-IN" sz="2000" b="1" dirty="0">
              <a:solidFill>
                <a:srgbClr val="002060"/>
              </a:solidFill>
            </a:endParaRPr>
          </a:p>
        </p:txBody>
      </p:sp>
      <p:pic>
        <p:nvPicPr>
          <p:cNvPr id="4" name="Picture 2" descr="C:\Users\HP\Pictures\ycce_logo-removebg-preview.png">
            <a:extLst>
              <a:ext uri="{FF2B5EF4-FFF2-40B4-BE49-F238E27FC236}">
                <a16:creationId xmlns:a16="http://schemas.microsoft.com/office/drawing/2014/main" id="{2DF5BEB2-EC3F-3CB9-1CCF-C95333451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72462" y="142858"/>
            <a:ext cx="857256" cy="85725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FFFF85-0ADF-C4BC-D22C-2BA961721F73}"/>
              </a:ext>
            </a:extLst>
          </p:cNvPr>
          <p:cNvSpPr txBox="1"/>
          <p:nvPr/>
        </p:nvSpPr>
        <p:spPr>
          <a:xfrm>
            <a:off x="428596" y="907396"/>
            <a:ext cx="7643866" cy="3747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/>
              <a:t>[1] González-Flores, L., Rubiano-Moreno, J., &amp; Sosa-Gómez, G. (2025).</a:t>
            </a:r>
            <a:r>
              <a:rPr lang="en-US" sz="1600" dirty="0"/>
              <a:t> The relevance of lead prioritization: A B2B lead scoring model based on machine learning. </a:t>
            </a:r>
            <a:r>
              <a:rPr lang="en-US" sz="1600" i="1" dirty="0"/>
              <a:t>Frontiers in Artificial Intelligence, 8</a:t>
            </a:r>
            <a:r>
              <a:rPr lang="en-US" sz="1600" dirty="0"/>
              <a:t>, 1554325. </a:t>
            </a:r>
            <a:r>
              <a:rPr lang="en-US" sz="1600" dirty="0">
                <a:hlinkClick r:id="rId3"/>
              </a:rPr>
              <a:t>https://doi.org/10.3389/frai.2025.1554325</a:t>
            </a:r>
            <a:endParaRPr lang="en-US" sz="1600" dirty="0"/>
          </a:p>
          <a:p>
            <a:pPr algn="just">
              <a:lnSpc>
                <a:spcPct val="150000"/>
              </a:lnSpc>
            </a:pPr>
            <a:r>
              <a:rPr lang="en-US" sz="1600" b="1" dirty="0"/>
              <a:t>[2] Hawaldar, I. T., Ullal, M. S., Sarea, A., </a:t>
            </a:r>
            <a:r>
              <a:rPr lang="en-US" sz="1600" b="1" dirty="0" err="1"/>
              <a:t>Mathukutti</a:t>
            </a:r>
            <a:r>
              <a:rPr lang="en-US" sz="1600" b="1" dirty="0"/>
              <a:t>, R. T., &amp; Joseph, N. (2022).</a:t>
            </a:r>
            <a:r>
              <a:rPr lang="en-US" sz="1600" dirty="0"/>
              <a:t> The study on digital marketing influences on sales for B2B start-ups in South Asia. </a:t>
            </a:r>
            <a:r>
              <a:rPr lang="en-US" sz="1600" i="1" dirty="0"/>
              <a:t>Journal of Open Innovation: Technology, Market, and Complexity, 8</a:t>
            </a:r>
            <a:r>
              <a:rPr lang="en-US" sz="1600" dirty="0"/>
              <a:t>(1), 23. </a:t>
            </a:r>
            <a:r>
              <a:rPr lang="en-US" sz="1600" dirty="0">
                <a:hlinkClick r:id="rId4"/>
              </a:rPr>
              <a:t>https://doi.org/10.3390/joitmc8010023</a:t>
            </a:r>
            <a:endParaRPr lang="en-IN" sz="1600" dirty="0"/>
          </a:p>
          <a:p>
            <a:pPr algn="just">
              <a:lnSpc>
                <a:spcPct val="150000"/>
              </a:lnSpc>
            </a:pPr>
            <a:r>
              <a:rPr lang="en-IN" sz="1600" b="1" dirty="0"/>
              <a:t>[3] Järvinen, J., &amp; Taiminen, H. (2016).</a:t>
            </a:r>
            <a:r>
              <a:rPr lang="en-IN" sz="1600" dirty="0"/>
              <a:t> Harnessing marketing automation for B2B content marketing. </a:t>
            </a:r>
            <a:r>
              <a:rPr lang="en-IN" sz="1600" i="1" dirty="0"/>
              <a:t>Industrial Marketing Management, 54</a:t>
            </a:r>
            <a:r>
              <a:rPr lang="en-IN" sz="1600" dirty="0"/>
              <a:t>, 164–175. </a:t>
            </a:r>
            <a:r>
              <a:rPr lang="en-IN" sz="1600" dirty="0">
                <a:hlinkClick r:id="rId5"/>
              </a:rPr>
              <a:t>https://doi.org/10.1016/j.indmarman.2015.07.002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500649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B981B-6608-6934-CE3B-1A6C5DE96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7A305A-0B2C-991B-33B4-7A2783DAD768}"/>
              </a:ext>
            </a:extLst>
          </p:cNvPr>
          <p:cNvSpPr txBox="1"/>
          <p:nvPr/>
        </p:nvSpPr>
        <p:spPr>
          <a:xfrm>
            <a:off x="0" y="4804946"/>
            <a:ext cx="9144000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Department of Management Studies and Entrepreneurship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550BD-3C25-27AA-F697-90401A8E0C0E}"/>
              </a:ext>
            </a:extLst>
          </p:cNvPr>
          <p:cNvSpPr txBox="1"/>
          <p:nvPr/>
        </p:nvSpPr>
        <p:spPr>
          <a:xfrm>
            <a:off x="428596" y="357172"/>
            <a:ext cx="4500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References</a:t>
            </a:r>
            <a:endParaRPr lang="en-IN" sz="2000" b="1" dirty="0">
              <a:solidFill>
                <a:srgbClr val="002060"/>
              </a:solidFill>
            </a:endParaRPr>
          </a:p>
        </p:txBody>
      </p:sp>
      <p:pic>
        <p:nvPicPr>
          <p:cNvPr id="4" name="Picture 2" descr="C:\Users\HP\Pictures\ycce_logo-removebg-preview.png">
            <a:extLst>
              <a:ext uri="{FF2B5EF4-FFF2-40B4-BE49-F238E27FC236}">
                <a16:creationId xmlns:a16="http://schemas.microsoft.com/office/drawing/2014/main" id="{21C1CD04-E909-1F9D-945C-1CD60995E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72462" y="142858"/>
            <a:ext cx="857256" cy="85725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A705A9-E6F3-28CF-5F77-E002CCD45089}"/>
              </a:ext>
            </a:extLst>
          </p:cNvPr>
          <p:cNvSpPr txBox="1"/>
          <p:nvPr/>
        </p:nvSpPr>
        <p:spPr>
          <a:xfrm>
            <a:off x="428596" y="1000114"/>
            <a:ext cx="7887820" cy="3747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/>
              <a:t>[4] Lundin, L., &amp; Kindström, D. (2023).</a:t>
            </a:r>
            <a:r>
              <a:rPr lang="en-US" sz="1600" dirty="0"/>
              <a:t> Digitalizing customer journeys in B2B markets. </a:t>
            </a:r>
            <a:r>
              <a:rPr lang="en-US" sz="1600" i="1" dirty="0"/>
              <a:t>Journal of Business Research, 157</a:t>
            </a:r>
            <a:r>
              <a:rPr lang="en-US" sz="1600" dirty="0"/>
              <a:t>, 113639. </a:t>
            </a:r>
            <a:r>
              <a:rPr lang="en-US" sz="1600" dirty="0">
                <a:hlinkClick r:id="rId3"/>
              </a:rPr>
              <a:t>https://doi.org/10.1016/j.jbusres.2022.113639</a:t>
            </a:r>
            <a:endParaRPr lang="en-US" sz="1600" dirty="0"/>
          </a:p>
          <a:p>
            <a:pPr algn="just">
              <a:lnSpc>
                <a:spcPct val="150000"/>
              </a:lnSpc>
            </a:pPr>
            <a:r>
              <a:rPr lang="en-US" sz="1600" b="1" dirty="0"/>
              <a:t>[5] Hassan, A., Mero, J., &amp; Laukkanen, T. (2026).</a:t>
            </a:r>
            <a:r>
              <a:rPr lang="en-US" sz="1600" dirty="0"/>
              <a:t> Marketing analytics in the digitized B2B landscape: Insights into lead generation in software-as-a-service firms. In </a:t>
            </a:r>
            <a:r>
              <a:rPr lang="en-US" sz="1600" i="1" dirty="0"/>
              <a:t>Proceedings of the 59th Hawaii International Conference on System Sciences (HICSS)</a:t>
            </a:r>
            <a:r>
              <a:rPr lang="en-US" sz="1600" dirty="0"/>
              <a:t> (pp. 1000–1009). </a:t>
            </a:r>
            <a:r>
              <a:rPr lang="en-US" sz="1600" dirty="0">
                <a:hlinkClick r:id="rId4"/>
              </a:rPr>
              <a:t>https://hdl.handle.net/10125/111514</a:t>
            </a:r>
            <a:endParaRPr lang="en-US" sz="1600" dirty="0"/>
          </a:p>
          <a:p>
            <a:pPr algn="just">
              <a:lnSpc>
                <a:spcPct val="150000"/>
              </a:lnSpc>
            </a:pPr>
            <a:r>
              <a:rPr lang="en-IN" sz="1600" b="1" dirty="0"/>
              <a:t>[6] Rusthollkarhu, S., </a:t>
            </a:r>
            <a:r>
              <a:rPr lang="en-IN" sz="1600" b="1" dirty="0" err="1"/>
              <a:t>Toukola</a:t>
            </a:r>
            <a:r>
              <a:rPr lang="en-IN" sz="1600" b="1" dirty="0"/>
              <a:t>, S., Aarikka-Stenroos, L., &amp; Mahlamäki, T. (2022).</a:t>
            </a:r>
            <a:r>
              <a:rPr lang="en-IN" sz="1600" dirty="0"/>
              <a:t> Managing B2B customer journeys in the digital era: Four management activities with artificial intelligence-empowered tools. </a:t>
            </a:r>
            <a:r>
              <a:rPr lang="en-IN" sz="1600" i="1" dirty="0"/>
              <a:t>Industrial Marketing Management, 104</a:t>
            </a:r>
            <a:r>
              <a:rPr lang="en-IN" sz="1600" dirty="0"/>
              <a:t>, 241–257. </a:t>
            </a:r>
            <a:r>
              <a:rPr lang="en-IN" sz="1600" dirty="0">
                <a:hlinkClick r:id="rId5"/>
              </a:rPr>
              <a:t>https://doi.org/10.1016/j.indmarman.2022.04.014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884733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804946"/>
            <a:ext cx="9144000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Department of Management Studies and Entrepreneurship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8596" y="357172"/>
            <a:ext cx="4500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References</a:t>
            </a:r>
            <a:endParaRPr lang="en-IN" sz="2000" b="1" dirty="0">
              <a:solidFill>
                <a:srgbClr val="002060"/>
              </a:solidFill>
            </a:endParaRPr>
          </a:p>
        </p:txBody>
      </p:sp>
      <p:pic>
        <p:nvPicPr>
          <p:cNvPr id="4" name="Picture 2" descr="C:\Users\HP\Pictures\ycce_logo-removebg-previe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72462" y="142858"/>
            <a:ext cx="857256" cy="85725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C89AE8-CFDE-FE26-2FB9-7DD7C0CF67DE}"/>
              </a:ext>
            </a:extLst>
          </p:cNvPr>
          <p:cNvSpPr txBox="1"/>
          <p:nvPr/>
        </p:nvSpPr>
        <p:spPr>
          <a:xfrm>
            <a:off x="428596" y="1000114"/>
            <a:ext cx="8247860" cy="3747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600" b="1" dirty="0"/>
              <a:t>[7] Saura, J. R., Ribeiro-Soriano, D., &amp; Palacios-Marqués, D. (2021).</a:t>
            </a:r>
            <a:r>
              <a:rPr lang="en-IN" sz="1600" dirty="0"/>
              <a:t> Setting B2B digital marketing in artificial intelligence-based CRMs: A review and directions for future research. </a:t>
            </a:r>
            <a:r>
              <a:rPr lang="en-IN" sz="1600" i="1" dirty="0"/>
              <a:t>Industrial Marketing Management, 98</a:t>
            </a:r>
            <a:r>
              <a:rPr lang="en-IN" sz="1600" dirty="0"/>
              <a:t>, 161–178. </a:t>
            </a:r>
            <a:r>
              <a:rPr lang="en-IN" sz="1600" dirty="0">
                <a:hlinkClick r:id="rId3"/>
              </a:rPr>
              <a:t>https://doi.org/10.1016/j.indmarman.2021.08.006</a:t>
            </a:r>
            <a:endParaRPr lang="en-IN" sz="1600" dirty="0"/>
          </a:p>
          <a:p>
            <a:pPr algn="just">
              <a:lnSpc>
                <a:spcPct val="150000"/>
              </a:lnSpc>
            </a:pPr>
            <a:r>
              <a:rPr lang="en-US" sz="1600" b="1" dirty="0"/>
              <a:t>[8] Isabella, G., Almeida, M. I. S. de, Duran, F. M., &amp; Gabler, C. (2025).</a:t>
            </a:r>
            <a:r>
              <a:rPr lang="en-US" sz="1600" dirty="0"/>
              <a:t> From static to conversational: The role of landing pages and chatbots in B2B lead generation. </a:t>
            </a:r>
            <a:r>
              <a:rPr lang="en-US" sz="1600" i="1" dirty="0"/>
              <a:t>Journal of Business Research, 201</a:t>
            </a:r>
            <a:r>
              <a:rPr lang="en-US" sz="1600" dirty="0"/>
              <a:t>, 115681. </a:t>
            </a:r>
            <a:r>
              <a:rPr lang="en-US" sz="1600" dirty="0">
                <a:hlinkClick r:id="rId4"/>
              </a:rPr>
              <a:t>https://doi.org/10.1016/j.jbusres.2025.115681</a:t>
            </a:r>
            <a:endParaRPr lang="en-US" sz="1600" dirty="0"/>
          </a:p>
          <a:p>
            <a:pPr algn="just">
              <a:lnSpc>
                <a:spcPct val="150000"/>
              </a:lnSpc>
            </a:pPr>
            <a:r>
              <a:rPr lang="en-IN" sz="1600" b="1" dirty="0"/>
              <a:t>[9] Balaji, M. S., Behl, A., Jain, K., </a:t>
            </a:r>
            <a:r>
              <a:rPr lang="en-IN" sz="1600" b="1" dirty="0" err="1"/>
              <a:t>Baabdullah</a:t>
            </a:r>
            <a:r>
              <a:rPr lang="en-IN" sz="1600" b="1" dirty="0"/>
              <a:t>, A. M., Giannakis, M., Shankar, A., &amp; Dwivedi, Y. K. (2023).</a:t>
            </a:r>
            <a:r>
              <a:rPr lang="en-IN" sz="1600" dirty="0"/>
              <a:t> Effectiveness of B2B social media marketing: The effect of message source and message content on social media engagement. </a:t>
            </a:r>
            <a:r>
              <a:rPr lang="en-IN" sz="1600" i="1" dirty="0"/>
              <a:t>Industrial Marketing Management, 113</a:t>
            </a:r>
            <a:r>
              <a:rPr lang="en-IN" sz="1600" dirty="0"/>
              <a:t>, 243–257. </a:t>
            </a:r>
            <a:r>
              <a:rPr lang="en-IN" sz="1600" dirty="0">
                <a:hlinkClick r:id="rId5"/>
              </a:rPr>
              <a:t>https://doi.org/10.1016/j.indmarman.2023.06.011</a:t>
            </a:r>
            <a:endParaRPr lang="en-IN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B7E32-FACD-26B4-2BDC-99BEAFEDA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48B240-E60D-2184-7298-8D4EF80952C5}"/>
              </a:ext>
            </a:extLst>
          </p:cNvPr>
          <p:cNvSpPr txBox="1"/>
          <p:nvPr/>
        </p:nvSpPr>
        <p:spPr>
          <a:xfrm>
            <a:off x="0" y="4804946"/>
            <a:ext cx="9144000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Department of Management Studies and Entrepreneurship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119AFF-4BAE-83A7-DB6E-F95EAD80166D}"/>
              </a:ext>
            </a:extLst>
          </p:cNvPr>
          <p:cNvSpPr txBox="1"/>
          <p:nvPr/>
        </p:nvSpPr>
        <p:spPr>
          <a:xfrm>
            <a:off x="428596" y="357172"/>
            <a:ext cx="4500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References</a:t>
            </a:r>
            <a:endParaRPr lang="en-IN" sz="2000" b="1" dirty="0">
              <a:solidFill>
                <a:srgbClr val="002060"/>
              </a:solidFill>
            </a:endParaRPr>
          </a:p>
        </p:txBody>
      </p:sp>
      <p:pic>
        <p:nvPicPr>
          <p:cNvPr id="4" name="Picture 2" descr="C:\Users\HP\Pictures\ycce_logo-removebg-preview.png">
            <a:extLst>
              <a:ext uri="{FF2B5EF4-FFF2-40B4-BE49-F238E27FC236}">
                <a16:creationId xmlns:a16="http://schemas.microsoft.com/office/drawing/2014/main" id="{7920F489-B365-DBD0-8124-0664131C6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72462" y="142858"/>
            <a:ext cx="857256" cy="85725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D4E14E-8F5D-60C3-F9FB-29E86B563F2E}"/>
              </a:ext>
            </a:extLst>
          </p:cNvPr>
          <p:cNvSpPr txBox="1"/>
          <p:nvPr/>
        </p:nvSpPr>
        <p:spPr>
          <a:xfrm>
            <a:off x="412066" y="1000114"/>
            <a:ext cx="8319868" cy="1162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600" b="1" dirty="0"/>
              <a:t>[10] Kanmani, J., Kavitha, M., Maheswari, G. S., &amp; Senthil Kumar, S. (2025).</a:t>
            </a:r>
            <a:r>
              <a:rPr lang="en-IN" sz="1600" dirty="0"/>
              <a:t> Marketing automation and customer buying behaviour. </a:t>
            </a:r>
            <a:r>
              <a:rPr lang="en-IN" sz="1600" i="1" dirty="0"/>
              <a:t>South Eastern European Journal of Public Health (SEEJPH), 26</a:t>
            </a:r>
            <a:r>
              <a:rPr lang="en-IN" sz="1600" dirty="0"/>
              <a:t>(S2). </a:t>
            </a:r>
            <a:r>
              <a:rPr lang="en-IN" sz="1600" dirty="0">
                <a:hlinkClick r:id="rId3"/>
              </a:rPr>
              <a:t>https://www.seejph.com/index.php/seejph/article/download/5626/3720/8595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353252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804946"/>
            <a:ext cx="9144000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Department of Management Studies and Entrepreneurship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71670" y="1857370"/>
            <a:ext cx="4500594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100" b="1" dirty="0">
                <a:solidFill>
                  <a:srgbClr val="002060"/>
                </a:solidFill>
              </a:rPr>
              <a:t>THANK YOU</a:t>
            </a:r>
            <a:endParaRPr lang="en-IN" sz="5100" b="1" dirty="0">
              <a:solidFill>
                <a:srgbClr val="002060"/>
              </a:solidFill>
            </a:endParaRPr>
          </a:p>
        </p:txBody>
      </p:sp>
      <p:pic>
        <p:nvPicPr>
          <p:cNvPr id="4" name="Picture 2" descr="C:\Users\HP\Pictures\ycce_logo-removebg-previe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72462" y="142858"/>
            <a:ext cx="857256" cy="85725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3354</TotalTime>
  <Words>2142</Words>
  <Application>Microsoft Office PowerPoint</Application>
  <PresentationFormat>On-screen Show (16:9)</PresentationFormat>
  <Paragraphs>186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Mayank Meshram</cp:lastModifiedBy>
  <cp:revision>21</cp:revision>
  <dcterms:created xsi:type="dcterms:W3CDTF">2025-02-27T07:26:48Z</dcterms:created>
  <dcterms:modified xsi:type="dcterms:W3CDTF">2026-03-12T15:17:53Z</dcterms:modified>
</cp:coreProperties>
</file>